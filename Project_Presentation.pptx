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V.S.B ENGINEERING COLLEGE (AUTONOMOUS), KARUR - 639111</a:t>
            </a:r>
          </a:p>
          <a:p>
            <a:pPr algn="ctr">
              <a:defRPr sz="1400" b="1">
                <a:solidFill>
                  <a:srgbClr val="F3F4F6"/>
                </a:solidFill>
                <a:latin typeface="Arial"/>
              </a:defRPr>
            </a:pPr>
            <a:r>
              <a:t>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4F6"/>
                </a:solidFill>
                <a:latin typeface="Arial"/>
              </a:defRPr>
            </a:pPr>
            <a:r>
              <a:t>AUTOMATED CROP DISEASE ANALYSIS USING CNN ALGORITHM</a:t>
            </a:r>
          </a:p>
          <a:p>
            <a:pPr algn="ctr">
              <a:defRPr sz="1600">
                <a:solidFill>
                  <a:srgbClr val="9CA3AF"/>
                </a:solidFill>
                <a:latin typeface="Arial"/>
              </a:defRPr>
            </a:pPr>
            <a:r>
              <a:t>A Full-Stack Deep Learning Application for Agricultural Pathology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  <a:latin typeface="Arial"/>
              </a:defRPr>
            </a:pPr>
            <a:r>
              <a:t>Submitted by:</a:t>
            </a:r>
          </a:p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MOUNISHA P</a:t>
            </a:r>
          </a:p>
          <a:p>
            <a:pPr algn="ctr">
              <a:defRPr sz="1400" b="1">
                <a:solidFill>
                  <a:srgbClr val="F3F4F6"/>
                </a:solidFill>
                <a:latin typeface="Arial"/>
              </a:defRPr>
            </a:pPr>
            <a:r>
              <a:t>Register Number: 922524243113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CA3AF"/>
                </a:solidFill>
                <a:latin typeface="Arial"/>
              </a:defRPr>
            </a:pPr>
            <a:r>
              <a:t>ACADEMIC YEAR: 2025 - 2026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1. 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Overview of the Problem:</a:t>
            </a:r>
          </a:p>
          <a:p>
            <a:pPr>
              <a:spcAft>
                <a:spcPts val="2400"/>
              </a:spcAft>
              <a:defRPr sz="1600">
                <a:solidFill>
                  <a:srgbClr val="9CA3AF"/>
                </a:solidFill>
                <a:latin typeface="Arial"/>
              </a:defRPr>
            </a:pPr>
            <a:r>
              <a:t>• Crop leaf diseases annually degrade up to 30% of global yield capacities, threatening agrarian livelihoods.</a:t>
            </a:r>
            <a:br/>
            <a:r>
              <a:t>• Farmers often lack access to professional agronomists, leading to incorrect diagnostic treatments.</a:t>
            </a:r>
            <a:br/>
            <a:r>
              <a:t>• Traditional identification methods are manual, slow, subjective, and highly error-prone.</a:t>
            </a:r>
          </a:p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Deep Learning Solution:</a:t>
            </a:r>
          </a:p>
          <a:p>
            <a:pPr>
              <a:defRPr sz="1600">
                <a:solidFill>
                  <a:srgbClr val="9CA3AF"/>
                </a:solidFill>
                <a:latin typeface="Arial"/>
              </a:defRPr>
            </a:pPr>
            <a:r>
              <a:t>• Integrates Computer Vision (OpenCV HSV Masks) with Deep Learning architectures (CNN / MLP).</a:t>
            </a:r>
            <a:br/>
            <a:r>
              <a:t>• Provides instant automated diagnostics for 10 distinct crops, split into 28 healthy and diseased categories.</a:t>
            </a:r>
            <a:br/>
            <a:r>
              <a:t>• Issues real-time treatment recipes (organic, chemical, water, climate) to mitigate crop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✔ Early Detection: </a:t>
            </a:r>
            <a:r>
              <a:rPr sz="1500" b="0">
                <a:solidFill>
                  <a:srgbClr val="F3F4F6"/>
                </a:solidFill>
                <a:latin typeface="Arial"/>
              </a:rPr>
              <a:t>Diagnose pathogens at initial leaf-spot stages using color space analysis to limit outbreak spreads.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✔ High-Precision Accuracy: </a:t>
            </a:r>
            <a:r>
              <a:rPr sz="1500" b="0">
                <a:solidFill>
                  <a:srgbClr val="F3F4F6"/>
                </a:solidFill>
                <a:latin typeface="Arial"/>
              </a:rPr>
              <a:t>Leverage deep neural layers to achieve high validation scores on standard agricultural datasets.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✔ Accessible Actionable Advice: </a:t>
            </a:r>
            <a:r>
              <a:rPr sz="1500" b="0">
                <a:solidFill>
                  <a:srgbClr val="F3F4F6"/>
                </a:solidFill>
                <a:latin typeface="Arial"/>
              </a:rPr>
              <a:t>Provide comprehensive treatment summaries, specifying organic recipes and chemical control values.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✔ Robust Portability &amp; Execution: </a:t>
            </a:r>
            <a:r>
              <a:rPr sz="1500" b="0">
                <a:solidFill>
                  <a:srgbClr val="F3F4F6"/>
                </a:solidFill>
                <a:latin typeface="Arial"/>
              </a:rPr>
              <a:t>Build a standalone executable that works offline without needing external servers, complex configurations, or terminal windows.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✔ Academic Compliance: </a:t>
            </a:r>
            <a:r>
              <a:rPr sz="1500" b="0">
                <a:solidFill>
                  <a:srgbClr val="F3F4F6"/>
                </a:solidFill>
                <a:latin typeface="Arial"/>
              </a:rPr>
              <a:t>Provide structured PDF reports with dynamic verification QR codes, matching final-year review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3. Technology Stack &amp;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Frontend</a:t>
            </a:r>
          </a:p>
          <a:p>
            <a:pPr>
              <a:spcAft>
                <a:spcPts val="14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React.js &amp; TypeScript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• Component layout isolation</a:t>
            </a:r>
            <a:br/>
            <a:r>
              <a:t>• Compile-time type safety</a:t>
            </a:r>
            <a:br/>
            <a:r>
              <a:t>• Single page routing</a:t>
            </a:r>
            <a:br/>
            <a:r>
              <a:t>• Lucid-React Icons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288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Styling</a:t>
            </a:r>
          </a:p>
          <a:p>
            <a:pPr>
              <a:spcAft>
                <a:spcPts val="14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Vanilla CSS &amp; Glassmorphism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• Custom emerald themes</a:t>
            </a:r>
            <a:br/>
            <a:r>
              <a:t>• Tailored dark palettes</a:t>
            </a:r>
            <a:br/>
            <a:r>
              <a:t>• Hover micro-animations</a:t>
            </a:r>
            <a:br/>
            <a:r>
              <a:t>• Responsive layouts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8288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Backend Gateway</a:t>
            </a:r>
          </a:p>
          <a:p>
            <a:pPr>
              <a:spcAft>
                <a:spcPts val="14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Python Flask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• High-speed HTTP services</a:t>
            </a:r>
            <a:br/>
            <a:r>
              <a:t>• Multi-part image parser</a:t>
            </a:r>
            <a:br/>
            <a:r>
              <a:t>• Static asset dispatcher</a:t>
            </a:r>
            <a:br/>
            <a:r>
              <a:t>• Dynamic PDF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8288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Database &amp; ML</a:t>
            </a:r>
          </a:p>
          <a:p>
            <a:pPr>
              <a:spcAft>
                <a:spcPts val="14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SQLite &amp; Scikit-Learn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• Portability without db setups</a:t>
            </a:r>
            <a:br/>
            <a:r>
              <a:t>• Parametric SQL security</a:t>
            </a:r>
            <a:br/>
            <a:r>
              <a:t>• MLP classifier model</a:t>
            </a:r>
            <a:br/>
            <a:r>
              <a:t>• OpenCV HSV filter masks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Core Architectural Flow:</a:t>
            </a:r>
          </a:p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Client Tier: </a:t>
            </a:r>
            <a:r>
              <a:rPr sz="1300">
                <a:solidFill>
                  <a:srgbClr val="9CA3AF"/>
                </a:solidFill>
                <a:latin typeface="Arial"/>
              </a:rPr>
              <a:t>React SPA collects leaf image uploads, communicates with the API Gateway using Axios async promises, and downloads Compiled PDF reports.</a:t>
            </a:r>
          </a:p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Application Tier: </a:t>
            </a:r>
            <a:r>
              <a:rPr sz="1300">
                <a:solidFill>
                  <a:srgbClr val="9CA3AF"/>
                </a:solidFill>
                <a:latin typeface="Arial"/>
              </a:rPr>
              <a:t>Flask gateway receives images, forwards raw bytes into OpenCV preprocessing masks, extracts features, and runs diagnostic predictions through the MLP Model.</a:t>
            </a:r>
          </a:p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Data Tier: </a:t>
            </a:r>
            <a:r>
              <a:rPr sz="1300">
                <a:solidFill>
                  <a:srgbClr val="9CA3AF"/>
                </a:solidFill>
                <a:latin typeface="Arial"/>
              </a:rPr>
              <a:t>SQLite commits records into normalization schemas. ReportLab builds a university-grade PDF with vector QR codes and returns it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  <a:latin typeface="Consolas"/>
              </a:defRPr>
            </a:pPr>
            <a:r>
              <a:t>========================================</a:t>
            </a:r>
            <a:br/>
            <a:r>
              <a:t>       CLIENT WEB PRESENTATION TIER</a:t>
            </a:r>
            <a:br/>
            <a:r>
              <a:t>          React.js / TypeScript SPA</a:t>
            </a:r>
            <a:br/>
            <a:r>
              <a:t>========================================</a:t>
            </a:r>
            <a:br/>
            <a:r>
              <a:t>                   ⬇️ (HTTP / Multipart Form Data)</a:t>
            </a:r>
            <a:br/>
            <a:r>
              <a:t>========================================</a:t>
            </a:r>
            <a:br/>
            <a:r>
              <a:t>        APPLICATION BUSINESS LOGIC TIER</a:t>
            </a:r>
            <a:br/>
            <a:r>
              <a:t>             Python Flask API Gateway</a:t>
            </a:r>
            <a:br/>
            <a:r>
              <a:t>   OpenCV Masking ➡️ Neural Network Inference</a:t>
            </a:r>
            <a:br/>
            <a:r>
              <a:t>========================================</a:t>
            </a:r>
            <a:br/>
            <a:r>
              <a:t>         ⬇️                          ⬇️</a:t>
            </a:r>
            <a:br/>
            <a:r>
              <a:t>===================         ====================</a:t>
            </a:r>
            <a:br/>
            <a:r>
              <a:t>  DATA TIER (SQLite)         REPORTLAB SERVICE</a:t>
            </a:r>
            <a:br/>
            <a:r>
              <a:t>   Parametric Queries         Structured PDFs</a:t>
            </a:r>
            <a:br/>
            <a:r>
              <a:t>===================         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5. Project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Module 1: User Session Security: </a:t>
            </a:r>
            <a:r>
              <a:rPr sz="1400">
                <a:solidFill>
                  <a:srgbClr val="F3F4F6"/>
                </a:solidFill>
                <a:latin typeface="Arial"/>
              </a:rPr>
              <a:t>Manages credentials, SHA-256 hashed password registries, and token-based API authentication controls.</a:t>
            </a:r>
          </a:p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Module 2: OpenCV Preprocessing: </a:t>
            </a:r>
            <a:r>
              <a:rPr sz="1400">
                <a:solidFill>
                  <a:srgbClr val="F3F4F6"/>
                </a:solidFill>
                <a:latin typeface="Arial"/>
              </a:rPr>
              <a:t>Applies HSV Color space filtering to isolates healthy leaf green regions from yellow/brown spots, computing precise damage percentages.</a:t>
            </a:r>
          </a:p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Module 3: Neural Network Diagnosis: </a:t>
            </a:r>
            <a:r>
              <a:rPr sz="1400">
                <a:solidFill>
                  <a:srgbClr val="F3F4F6"/>
                </a:solidFill>
                <a:latin typeface="Arial"/>
              </a:rPr>
              <a:t>Inferences the Scikit-Learn Multilayer Perceptron (MLP) Classifier to diagnose 28 specific agricultural healthy and diseased target classes.</a:t>
            </a:r>
          </a:p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Module 4: SQL Database Registry: </a:t>
            </a:r>
            <a:r>
              <a:rPr sz="1400">
                <a:solidFill>
                  <a:srgbClr val="F3F4F6"/>
                </a:solidFill>
                <a:latin typeface="Arial"/>
              </a:rPr>
              <a:t>Records histories of prediction indexes, confidence ratios, date, and user IDs in normalized tables.</a:t>
            </a:r>
          </a:p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Module 5: Dynamic Report Generation: </a:t>
            </a:r>
            <a:r>
              <a:rPr sz="1400">
                <a:solidFill>
                  <a:srgbClr val="F3F4F6"/>
                </a:solidFill>
                <a:latin typeface="Arial"/>
              </a:rPr>
              <a:t>Utilizes ReportLab flowables to build verified PDF reports with vector QR codes pointing back to host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6. Image Preprocessing &amp; HSV 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How OpenCV Enhances CNN Inference: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Color Space Conversion: </a:t>
            </a:r>
            <a:r>
              <a:rPr sz="1400">
                <a:solidFill>
                  <a:srgbClr val="9CA3AF"/>
                </a:solidFill>
                <a:latin typeface="Arial"/>
              </a:rPr>
              <a:t>Converts raw RGB input pixels to Hue-Saturation-Value (HSV). The HSV space is highly resistant to outdoor lighting variances, shadow castings, and glare reflections.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Green Mask Filtering: </a:t>
            </a:r>
            <a:r>
              <a:rPr sz="1400">
                <a:solidFill>
                  <a:srgbClr val="9CA3AF"/>
                </a:solidFill>
                <a:latin typeface="Arial"/>
              </a:rPr>
              <a:t>Defines HSV threshold limits for green chlorophyllic structures (Hue: 35-85, Saturation: 40-255). It isolates the true leaf blade contours from pot backgrounds or soil.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Necrotic Spot Masking: </a:t>
            </a:r>
            <a:r>
              <a:rPr sz="1400">
                <a:solidFill>
                  <a:srgbClr val="9CA3AF"/>
                </a:solidFill>
                <a:latin typeface="Arial"/>
              </a:rPr>
              <a:t>Defines thresholds for brown, black, and yellow dead spots. Counts non-green pixels inside the leaf border to compute the exact damage ratio.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Pathology Classification Override: </a:t>
            </a:r>
            <a:r>
              <a:rPr sz="1400">
                <a:solidFill>
                  <a:srgbClr val="9CA3AF"/>
                </a:solidFill>
                <a:latin typeface="Arial"/>
              </a:rPr>
              <a:t>If the leaf features less than 1% total necrotic spots, it overrides neural predictions to return a clean 'Healthy' status, eliminating false positive detections.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7. Deep Neural Network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Neural Network Pipeline Specs: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Input Feature Vectorization: </a:t>
            </a:r>
            <a:r>
              <a:rPr sz="1400">
                <a:solidFill>
                  <a:srgbClr val="9CA3AF"/>
                </a:solidFill>
                <a:latin typeface="Arial"/>
              </a:rPr>
              <a:t>Leaf photos are loaded and downsampled to 32x32 pixel maps, vectorized into 3072 raw input features (RGB channels) for fast CPU inference speeds.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Multi-Layer Perceptron (MLP): </a:t>
            </a:r>
            <a:r>
              <a:rPr sz="1400">
                <a:solidFill>
                  <a:srgbClr val="9CA3AF"/>
                </a:solidFill>
                <a:latin typeface="Arial"/>
              </a:rPr>
              <a:t>Configures input layers, hidden layer 1 (128 neurons), hidden layer 2 (64 neurons), and an output Softmax layer mapping to 28 target diagnostic classes.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Activation &amp; Optimizations: </a:t>
            </a:r>
            <a:r>
              <a:rPr sz="1400">
                <a:solidFill>
                  <a:srgbClr val="9CA3AF"/>
                </a:solidFill>
                <a:latin typeface="Arial"/>
              </a:rPr>
              <a:t>Uses Rectified Linear Units (ReLU) in hidden layers to capture complex nonlinear spot patterns, optimizing loss through Stochastic Gradient Descent (SGD).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CNN Training Setup: </a:t>
            </a:r>
            <a:r>
              <a:rPr sz="1400">
                <a:solidFill>
                  <a:srgbClr val="9CA3AF"/>
                </a:solidFill>
                <a:latin typeface="Arial"/>
              </a:rPr>
              <a:t>The system natively runs Scikit-Learn MLPClassifier when TensorFlow dependencies lack AVX CPU instruction sets, loading real PlantVillage photos to save weights into disease_model.h5.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8. SQL 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Data Normative Tables &amp; Security: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Users Table: </a:t>
            </a:r>
            <a:r>
              <a:rPr sz="1400">
                <a:solidFill>
                  <a:srgbClr val="9CA3AF"/>
                </a:solidFill>
                <a:latin typeface="Arial"/>
              </a:rPr>
              <a:t>Tracks user logins. Attributes: id (Primary Key), email (UNIQUE index), password_hash (SHA-256), phone, role (admin/user), and created_at timestamps.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Predictions Table: </a:t>
            </a:r>
            <a:r>
              <a:rPr sz="1400">
                <a:solidFill>
                  <a:srgbClr val="9CA3AF"/>
                </a:solidFill>
                <a:latin typeface="Arial"/>
              </a:rPr>
              <a:t>Stores pathology history. Attributes: id (Primary Key), user_id (Foreign Key), crop, disease, confidence (Float), severity, image_path, and created_at.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DiseaseInformation Table: </a:t>
            </a:r>
            <a:r>
              <a:rPr sz="1400">
                <a:solidFill>
                  <a:srgbClr val="9CA3AF"/>
                </a:solidFill>
                <a:latin typeface="Arial"/>
              </a:rPr>
              <a:t>Houses seeder recommendations. Attributes: crop, disease, description, symptoms, causes, organic_treatment, chemical_treatment, fertilizer, water_advice, prevention.</a:t>
            </a:r>
          </a:p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✔ SQL Injection Prevention: </a:t>
            </a:r>
            <a:r>
              <a:rPr sz="1400">
                <a:solidFill>
                  <a:srgbClr val="9CA3AF"/>
                </a:solidFill>
                <a:latin typeface="Arial"/>
              </a:rPr>
              <a:t>All inputs are strictly parameterized in Flask (e.g. cursor.execute('SELECT * FROM Users WHERE email = ?', (email,))), blocking malicious SQL injections.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9. Interface Mockups: Access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Authentication &amp; Account Creation:</a:t>
            </a:r>
          </a:p>
          <a:p>
            <a:pPr>
              <a:defRPr sz="1500">
                <a:solidFill>
                  <a:srgbClr val="9CA3AF"/>
                </a:solidFill>
                <a:latin typeface="Arial"/>
              </a:defRPr>
            </a:pPr>
            <a:r>
              <a:t>• Secure, glassmorphic card design.</a:t>
            </a:r>
            <a:br/>
            <a:r>
              <a:t>• Includes inputs for username, phone, email, and secret passwords.</a:t>
            </a:r>
            <a:br/>
            <a:r>
              <a:t>• Dynamically generates unique cartoon agricultural avatars on registration.</a:t>
            </a:r>
            <a:br/>
            <a:r>
              <a:t>• Features real-time password strength indicators to enforce strong passwords.</a:t>
            </a:r>
          </a:p>
        </p:txBody>
      </p:sp>
      <p:pic>
        <p:nvPicPr>
          <p:cNvPr id="5" name="Picture 4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10. Interface Mockups: Diagnostic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Leaf Pathology Upload Portal:</a:t>
            </a:r>
          </a:p>
          <a:p>
            <a:pPr>
              <a:defRPr sz="1500">
                <a:solidFill>
                  <a:srgbClr val="9CA3AF"/>
                </a:solidFill>
                <a:latin typeface="Arial"/>
              </a:defRPr>
            </a:pPr>
            <a:r>
              <a:t>• Interactive drag-and-drop workspace supporting leaf image uploads.</a:t>
            </a:r>
            <a:br/>
            <a:r>
              <a:t>• Displays upload previews, loading states, and pipeline progress indicators.</a:t>
            </a:r>
            <a:br/>
            <a:r>
              <a:t>• Guides the user visually with glowing cards and micro-animations.</a:t>
            </a:r>
          </a:p>
        </p:txBody>
      </p:sp>
      <p:pic>
        <p:nvPicPr>
          <p:cNvPr id="5" name="Picture 4" descr="up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11. Interface Mockups: Diagnosis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Diagnostic Report &amp; Pathology Summary:</a:t>
            </a:r>
          </a:p>
          <a:p>
            <a:pPr>
              <a:defRPr sz="1500">
                <a:solidFill>
                  <a:srgbClr val="9CA3AF"/>
                </a:solidFill>
                <a:latin typeface="Arial"/>
              </a:defRPr>
            </a:pPr>
            <a:r>
              <a:t>• Displays diagnosis result, confidence scores, and crop health status.</a:t>
            </a:r>
            <a:br/>
            <a:r>
              <a:t>• Details organic and chemical treatments, watering rules, and prevention guides.</a:t>
            </a:r>
            <a:br/>
            <a:r>
              <a:t>• Includes inputs to customize Student Name and Project Title for the PDF report.</a:t>
            </a:r>
            <a:br/>
            <a:r>
              <a:t>• Direct download triggers for university-grade PDF reports.</a:t>
            </a:r>
          </a:p>
        </p:txBody>
      </p:sp>
      <p:pic>
        <p:nvPicPr>
          <p:cNvPr id="5" name="Picture 4" descr="predi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12. Interface Mockups: 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Control Metrics &amp; Logs:</a:t>
            </a:r>
          </a:p>
          <a:p>
            <a:pPr>
              <a:defRPr sz="1500">
                <a:solidFill>
                  <a:srgbClr val="9CA3AF"/>
                </a:solidFill>
                <a:latin typeface="Arial"/>
              </a:defRPr>
            </a:pPr>
            <a:r>
              <a:t>• Aggregates total predictions, accuracy levels, and crop distributions.</a:t>
            </a:r>
            <a:br/>
            <a:r>
              <a:t>• Lists diagnostic history with date, submitter name, and confidence levels.</a:t>
            </a:r>
            <a:br/>
            <a:r>
              <a:t>• Direct database sync controls and Excel spreadsheet download triggers.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13. Conclusion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_________________________________________________________________________________________________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Key Accomplishments:</a:t>
            </a:r>
          </a:p>
          <a:p>
            <a:pPr>
              <a:spcAft>
                <a:spcPts val="20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• Successfully built a full-stack crop disease diagnosis platform on port 8080.</a:t>
            </a:r>
            <a:br/>
            <a:r>
              <a:t>• Integrated OpenCV color contours with neural networks to achieve consistent predictions.</a:t>
            </a:r>
            <a:br/>
            <a:r>
              <a:t>• Compiled a self-executing Windows App (.exe) launcher for absolute offline portability.</a:t>
            </a:r>
          </a:p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Future Scope:</a:t>
            </a:r>
          </a:p>
          <a:p>
            <a:pPr>
              <a:defRPr sz="1500">
                <a:solidFill>
                  <a:srgbClr val="9CA3AF"/>
                </a:solidFill>
                <a:latin typeface="Arial"/>
              </a:defRPr>
            </a:pPr>
            <a:r>
              <a:t>• Expand CNN training sets to support more agricultural pathogens (e.g. rice rusts, wheat smuts).</a:t>
            </a:r>
            <a:br/>
            <a:r>
              <a:t>• Deploy model layers onto edge microcontrollers to run smart camera probes in irrigation fields.</a:t>
            </a:r>
            <a:br/>
            <a:r>
              <a:t>• Integrate SMS notification gateways to alert farmers on local pathogen spreads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Review &amp; Viva Questions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F4F6"/>
                </a:solidFill>
                <a:latin typeface="Arial"/>
              </a:defRPr>
            </a:pPr>
            <a:r>
              <a:t>Key Viva Highlights to remember: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• Why Flask and SQLite? Flask acts as a fast gateway module, and SQLite provides a serverless relational database that runs locally on Windows without complex database configuration steps.</a:t>
            </a:r>
            <a:br/>
            <a:r>
              <a:t>• Why OpenCV and MLP? OpenCV isolates true leaf pixels from shadow noise using HSV color masks, allowing a lightweight Multi-Layer Perceptron (MLP) network to calculate class scores rapidly on a CPU without requiring expensive CUDA GPUs.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